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5" roundtripDataSignature="AMtx7mhiuMOohH9lqqhu1bOoowA67G6k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74c52ed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274c52edc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1517018" y="1241014"/>
            <a:ext cx="716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1517018" y="2149078"/>
            <a:ext cx="53409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57200" y="35361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517018" y="1241014"/>
            <a:ext cx="716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subTitle"/>
          </p:nvPr>
        </p:nvSpPr>
        <p:spPr>
          <a:xfrm>
            <a:off x="1517018" y="2149078"/>
            <a:ext cx="53409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type="ctrTitle"/>
          </p:nvPr>
        </p:nvSpPr>
        <p:spPr>
          <a:xfrm>
            <a:off x="1156944" y="1597819"/>
            <a:ext cx="7086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" type="subTitle"/>
          </p:nvPr>
        </p:nvSpPr>
        <p:spPr>
          <a:xfrm>
            <a:off x="1156944" y="271341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457200" y="484822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3124200" y="484822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457200" y="35361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6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6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6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/>
          <p:nvPr>
            <p:ph idx="2" type="pic"/>
          </p:nvPr>
        </p:nvSpPr>
        <p:spPr>
          <a:xfrm>
            <a:off x="1792288" y="621751"/>
            <a:ext cx="5486400" cy="29238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8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57200" y="35361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title"/>
          </p:nvPr>
        </p:nvSpPr>
        <p:spPr>
          <a:xfrm>
            <a:off x="1517650" y="1829991"/>
            <a:ext cx="73722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Biaxial Tensile Tester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 sz="2400"/>
              <a:t>OPR 10</a:t>
            </a:r>
            <a:br>
              <a:rPr lang="en" sz="3600"/>
            </a:br>
            <a:br>
              <a:rPr lang="en" sz="3600"/>
            </a:br>
            <a:endParaRPr sz="35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517649" y="258366"/>
            <a:ext cx="6803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747"/>
              </a:buClr>
              <a:buSzPct val="133333"/>
              <a:buNone/>
            </a:pPr>
            <a:r>
              <a:rPr lang="en">
                <a:solidFill>
                  <a:srgbClr val="FFD747"/>
                </a:solidFill>
              </a:rPr>
              <a:t>GE 498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FFD747"/>
              </a:buClr>
              <a:buSzPct val="133333"/>
              <a:buNone/>
            </a:pPr>
            <a:r>
              <a:rPr lang="en">
                <a:solidFill>
                  <a:srgbClr val="FFD747"/>
                </a:solidFill>
              </a:rPr>
              <a:t>Senior Design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061950" y="2688450"/>
            <a:ext cx="7218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Team Members: Michael Scarsella, David Engstrom, Jing Qin, Michael Fermanis, and Subhanga Ghimire</a:t>
            </a:r>
            <a:endParaRPr b="1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Advisor: Professor G. El-Howayek</a:t>
            </a:r>
            <a:endParaRPr b="1" i="0" sz="22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Secondary Advisor: Professor L. Stestito</a:t>
            </a:r>
            <a:r>
              <a:rPr b="1" i="0" lang="en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br>
              <a:rPr b="0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74c52edcf_1_0"/>
          <p:cNvSpPr txBox="1"/>
          <p:nvPr>
            <p:ph type="title"/>
          </p:nvPr>
        </p:nvSpPr>
        <p:spPr>
          <a:xfrm>
            <a:off x="14325" y="0"/>
            <a:ext cx="914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Agenda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1" name="Google Shape;101;g1274c52edcf_1_0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1274c52edcf_1_0"/>
          <p:cNvSpPr txBox="1"/>
          <p:nvPr/>
        </p:nvSpPr>
        <p:spPr>
          <a:xfrm>
            <a:off x="152778" y="740210"/>
            <a:ext cx="8229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Reminder of Our Project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Overview of the solution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Design details of the subassemblies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</a:t>
            </a:r>
            <a:r>
              <a:rPr lang="en" sz="1500">
                <a:solidFill>
                  <a:schemeClr val="dk1"/>
                </a:solidFill>
              </a:rPr>
              <a:t>echanical sides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Electrical </a:t>
            </a:r>
            <a:r>
              <a:rPr lang="en" sz="1500">
                <a:solidFill>
                  <a:schemeClr val="dk1"/>
                </a:solidFill>
              </a:rPr>
              <a:t>sides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How our design meets the requirements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</a:t>
            </a:r>
            <a:r>
              <a:rPr lang="en" sz="1500"/>
              <a:t>udget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Summary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Questions </a:t>
            </a:r>
            <a:endParaRPr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274c52edcf_1_0"/>
          <p:cNvSpPr txBox="1"/>
          <p:nvPr/>
        </p:nvSpPr>
        <p:spPr>
          <a:xfrm>
            <a:off x="152775" y="4691450"/>
            <a:ext cx="228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Slide 2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4325" y="0"/>
            <a:ext cx="914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Reminder of our Project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09" name="Google Shape;109;p3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52775" y="740193"/>
            <a:ext cx="82296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 Statement</a:t>
            </a:r>
            <a:endParaRPr b="0" i="0" sz="1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Biaxial Tensile Tester is a device that will test and record the strength of skin, organs and other organic tissues while having constant velocity in the x and y direction.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Pull tissue with the same velocity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and display the force and displacement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operate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1275" y="1946542"/>
            <a:ext cx="3661925" cy="2347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35361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Update Since Last OPR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431850" y="1433425"/>
            <a:ext cx="3701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Actuators operate with single motor driver.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Pseudo code ready for synchronous working of Load cell and Actuator.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perfectly with the power supply.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base and framework for one direction.(Brackets need to be tighten for the actuators)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8199" y="671125"/>
            <a:ext cx="3328600" cy="353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14325" y="456575"/>
            <a:ext cx="914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800"/>
              <a:t>Milestone 2 Plans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27" name="Google Shape;127;p5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300525" y="542000"/>
            <a:ext cx="4035900" cy="3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 half of the tensile tester for Milestone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both the load cell and linear actuators working in synchronous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a final plan for Interface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4519863" y="980600"/>
            <a:ext cx="41670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0475" y="600825"/>
            <a:ext cx="4365776" cy="235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4325" y="0"/>
            <a:ext cx="914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Conclusion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37" name="Google Shape;137;p6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457200" y="881292"/>
            <a:ext cx="8229600" cy="3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Milestone 2, one direction of tester will be ready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Readings for actuator and load cell will be accurate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have started on the interface prior to Milestone 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also have a data storage to save all our data.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6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14325" y="0"/>
            <a:ext cx="9144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Summary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45" name="Google Shape;145;p7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52778" y="740210"/>
            <a:ext cx="8229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since last OPR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 2 Plans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for Milestone 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7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14325" y="0"/>
            <a:ext cx="91440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Questions?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53" name="Google Shape;153;p8"/>
          <p:cNvSpPr txBox="1"/>
          <p:nvPr/>
        </p:nvSpPr>
        <p:spPr>
          <a:xfrm>
            <a:off x="485775" y="1200150"/>
            <a:ext cx="82011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52775" y="4691450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8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werpoint_template_2010">
  <a:themeElements>
    <a:clrScheme name="Valpo Colors">
      <a:dk1>
        <a:srgbClr val="000000"/>
      </a:dk1>
      <a:lt1>
        <a:srgbClr val="FFFFFF"/>
      </a:lt1>
      <a:dk2>
        <a:srgbClr val="382111"/>
      </a:dk2>
      <a:lt2>
        <a:srgbClr val="FCCC00"/>
      </a:lt2>
      <a:accent1>
        <a:srgbClr val="ADD632"/>
      </a:accent1>
      <a:accent2>
        <a:srgbClr val="847A6C"/>
      </a:accent2>
      <a:accent3>
        <a:srgbClr val="FFD747"/>
      </a:accent3>
      <a:accent4>
        <a:srgbClr val="BB975E"/>
      </a:accent4>
      <a:accent5>
        <a:srgbClr val="B3AB9C"/>
      </a:accent5>
      <a:accent6>
        <a:srgbClr val="8F6F5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